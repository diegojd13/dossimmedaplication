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Raleway" panose="020B0604020202020204" charset="0"/>
      <p:regular r:id="rId25"/>
      <p:bold r:id="rId26"/>
      <p:italic r:id="rId27"/>
      <p:boldItalic r:id="rId28"/>
    </p:embeddedFont>
    <p:embeddedFont>
      <p:font typeface="Lato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9F65F7-8F5F-42B8-B6AC-A79D8E8C6B83}">
  <a:tblStyle styleId="{589F65F7-8F5F-42B8-B6AC-A79D8E8C6B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6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s-E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4632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7402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Shape 9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s-E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8550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03" name="Shape 1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3277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8206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16" name="Shape 11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3464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23" name="Shape 12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9153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3663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Shape 137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None/>
            </a:pPr>
            <a:fld id="{00000000-1234-1234-1234-123412341234}" type="slidenum"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s-E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1314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45" name="Shape 1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1997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52" name="Shape 15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1471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5897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64" name="Shape 1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1273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7483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80" name="Shape 1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6651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7736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63981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0768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95" name="Shape 1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2634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hape 1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Shape 1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Shape 1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7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‹Nº›</a:t>
            </a:fld>
            <a:endParaRPr lang="es-ES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chemeClr val="dk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hape 2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Shape 2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‹Nº›</a:t>
            </a:fld>
            <a:endParaRPr lang="es-ES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hape 2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Shape 27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Shape 2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3000"/>
              <a:buNone/>
              <a:defRPr/>
            </a:lvl1pPr>
            <a:lvl2pPr lvl="1">
              <a:spcBef>
                <a:spcPts val="0"/>
              </a:spcBef>
              <a:buSzPts val="3000"/>
              <a:buNone/>
              <a:defRPr/>
            </a:lvl2pPr>
            <a:lvl3pPr lvl="2">
              <a:spcBef>
                <a:spcPts val="0"/>
              </a:spcBef>
              <a:buSzPts val="3000"/>
              <a:buNone/>
              <a:defRPr/>
            </a:lvl3pPr>
            <a:lvl4pPr lvl="3">
              <a:spcBef>
                <a:spcPts val="0"/>
              </a:spcBef>
              <a:buSzPts val="3000"/>
              <a:buNone/>
              <a:defRPr/>
            </a:lvl4pPr>
            <a:lvl5pPr lvl="4">
              <a:spcBef>
                <a:spcPts val="0"/>
              </a:spcBef>
              <a:buSzPts val="3000"/>
              <a:buNone/>
              <a:defRPr/>
            </a:lvl5pPr>
            <a:lvl6pPr lvl="5">
              <a:spcBef>
                <a:spcPts val="0"/>
              </a:spcBef>
              <a:buSzPts val="3000"/>
              <a:buNone/>
              <a:defRPr/>
            </a:lvl6pPr>
            <a:lvl7pPr lvl="6">
              <a:spcBef>
                <a:spcPts val="0"/>
              </a:spcBef>
              <a:buSzPts val="3000"/>
              <a:buNone/>
              <a:defRPr/>
            </a:lvl7pPr>
            <a:lvl8pPr lvl="7">
              <a:spcBef>
                <a:spcPts val="0"/>
              </a:spcBef>
              <a:buSzPts val="3000"/>
              <a:buNone/>
              <a:defRPr/>
            </a:lvl8pPr>
            <a:lvl9pPr lvl="8">
              <a:spcBef>
                <a:spcPts val="0"/>
              </a:spcBef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s-ES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hape 3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Shape 3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Shape 3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3000"/>
              <a:buNone/>
              <a:defRPr/>
            </a:lvl1pPr>
            <a:lvl2pPr lvl="1">
              <a:spcBef>
                <a:spcPts val="0"/>
              </a:spcBef>
              <a:buSzPts val="3000"/>
              <a:buNone/>
              <a:defRPr/>
            </a:lvl2pPr>
            <a:lvl3pPr lvl="2">
              <a:spcBef>
                <a:spcPts val="0"/>
              </a:spcBef>
              <a:buSzPts val="3000"/>
              <a:buNone/>
              <a:defRPr/>
            </a:lvl3pPr>
            <a:lvl4pPr lvl="3">
              <a:spcBef>
                <a:spcPts val="0"/>
              </a:spcBef>
              <a:buSzPts val="3000"/>
              <a:buNone/>
              <a:defRPr/>
            </a:lvl4pPr>
            <a:lvl5pPr lvl="4">
              <a:spcBef>
                <a:spcPts val="0"/>
              </a:spcBef>
              <a:buSzPts val="3000"/>
              <a:buNone/>
              <a:defRPr/>
            </a:lvl5pPr>
            <a:lvl6pPr lvl="5">
              <a:spcBef>
                <a:spcPts val="0"/>
              </a:spcBef>
              <a:buSzPts val="3000"/>
              <a:buNone/>
              <a:defRPr/>
            </a:lvl6pPr>
            <a:lvl7pPr lvl="6">
              <a:spcBef>
                <a:spcPts val="0"/>
              </a:spcBef>
              <a:buSzPts val="3000"/>
              <a:buNone/>
              <a:defRPr/>
            </a:lvl7pPr>
            <a:lvl8pPr lvl="7">
              <a:spcBef>
                <a:spcPts val="0"/>
              </a:spcBef>
              <a:buSzPts val="3000"/>
              <a:buNone/>
              <a:defRPr/>
            </a:lvl8pPr>
            <a:lvl9pPr lvl="8">
              <a:spcBef>
                <a:spcPts val="0"/>
              </a:spcBef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s-ES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3000"/>
              <a:buNone/>
              <a:defRPr/>
            </a:lvl1pPr>
            <a:lvl2pPr lvl="1">
              <a:spcBef>
                <a:spcPts val="0"/>
              </a:spcBef>
              <a:buSzPts val="3000"/>
              <a:buNone/>
              <a:defRPr/>
            </a:lvl2pPr>
            <a:lvl3pPr lvl="2">
              <a:spcBef>
                <a:spcPts val="0"/>
              </a:spcBef>
              <a:buSzPts val="3000"/>
              <a:buNone/>
              <a:defRPr/>
            </a:lvl3pPr>
            <a:lvl4pPr lvl="3">
              <a:spcBef>
                <a:spcPts val="0"/>
              </a:spcBef>
              <a:buSzPts val="3000"/>
              <a:buNone/>
              <a:defRPr/>
            </a:lvl4pPr>
            <a:lvl5pPr lvl="4">
              <a:spcBef>
                <a:spcPts val="0"/>
              </a:spcBef>
              <a:buSzPts val="3000"/>
              <a:buNone/>
              <a:defRPr/>
            </a:lvl5pPr>
            <a:lvl6pPr lvl="5">
              <a:spcBef>
                <a:spcPts val="0"/>
              </a:spcBef>
              <a:buSzPts val="3000"/>
              <a:buNone/>
              <a:defRPr/>
            </a:lvl6pPr>
            <a:lvl7pPr lvl="6">
              <a:spcBef>
                <a:spcPts val="0"/>
              </a:spcBef>
              <a:buSzPts val="3000"/>
              <a:buNone/>
              <a:defRPr/>
            </a:lvl7pPr>
            <a:lvl8pPr lvl="7">
              <a:spcBef>
                <a:spcPts val="0"/>
              </a:spcBef>
              <a:buSzPts val="3000"/>
              <a:buNone/>
              <a:defRPr/>
            </a:lvl8pPr>
            <a:lvl9pPr lvl="8">
              <a:spcBef>
                <a:spcPts val="0"/>
              </a:spcBef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s-ES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hape 4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200"/>
              <a:buChar char="●"/>
              <a:defRPr sz="12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s-ES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bg>
      <p:bgPr>
        <a:solidFill>
          <a:schemeClr val="lt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hape 4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‹Nº›</a:t>
            </a:fld>
            <a:endParaRPr lang="es-ES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cxnSp>
        <p:nvCxnSpPr>
          <p:cNvPr id="54" name="Shape 5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s-ES">
                <a:solidFill>
                  <a:schemeClr val="lt1"/>
                </a:solidFill>
              </a:rPr>
              <a:t>‹Nº›</a:t>
            </a:fld>
            <a:endParaRPr lang="es-ES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hape 6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Shape 61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Shape 62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s-ES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Shape 65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Shape 66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SzPts val="1800"/>
              <a:buChar char="●"/>
              <a:defRPr/>
            </a:lvl1pPr>
            <a:lvl2pPr lvl="1" algn="ctr">
              <a:spcBef>
                <a:spcPts val="0"/>
              </a:spcBef>
              <a:buSzPts val="1400"/>
              <a:buChar char="○"/>
              <a:defRPr/>
            </a:lvl2pPr>
            <a:lvl3pPr lvl="2" algn="ctr">
              <a:spcBef>
                <a:spcPts val="0"/>
              </a:spcBef>
              <a:buSzPts val="1400"/>
              <a:buChar char="■"/>
              <a:defRPr/>
            </a:lvl3pPr>
            <a:lvl4pPr lvl="3" algn="ctr">
              <a:spcBef>
                <a:spcPts val="0"/>
              </a:spcBef>
              <a:buSzPts val="1400"/>
              <a:buChar char="●"/>
              <a:defRPr/>
            </a:lvl4pPr>
            <a:lvl5pPr lvl="4" algn="ctr">
              <a:spcBef>
                <a:spcPts val="0"/>
              </a:spcBef>
              <a:buSzPts val="1400"/>
              <a:buChar char="○"/>
              <a:defRPr/>
            </a:lvl5pPr>
            <a:lvl6pPr lvl="5" algn="ctr">
              <a:spcBef>
                <a:spcPts val="0"/>
              </a:spcBef>
              <a:buSzPts val="1400"/>
              <a:buChar char="■"/>
              <a:defRPr/>
            </a:lvl6pPr>
            <a:lvl7pPr lvl="6" algn="ctr">
              <a:spcBef>
                <a:spcPts val="0"/>
              </a:spcBef>
              <a:buSzPts val="1400"/>
              <a:buChar char="●"/>
              <a:defRPr/>
            </a:lvl7pPr>
            <a:lvl8pPr lvl="7" algn="ctr">
              <a:spcBef>
                <a:spcPts val="0"/>
              </a:spcBef>
              <a:buSzPts val="1400"/>
              <a:buChar char="○"/>
              <a:defRPr/>
            </a:lvl8pPr>
            <a:lvl9pPr lvl="8" algn="ctr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s-ES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s-ES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SQUEMA GRAL 2A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Shape 73" descr="Template_PPT_Mesa de trabajo 24 copia 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384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 ESTILO 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Shape 75" descr="Sin título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829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SQUEMA GENERAL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Shape 77" descr="Sin título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6695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CIÓN2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Shape 79" descr="Sin título8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9804" y="0"/>
            <a:ext cx="925675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Shape 80"/>
          <p:cNvSpPr txBox="1"/>
          <p:nvPr/>
        </p:nvSpPr>
        <p:spPr>
          <a:xfrm>
            <a:off x="-3091833" y="-936348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endParaRPr sz="8000" b="1" dirty="0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L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Shape 82" descr="Sin título1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9804" y="0"/>
            <a:ext cx="92567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buNone/>
            </a:pPr>
            <a:fld id="{00000000-1234-1234-1234-123412341234}" type="slidenum">
              <a:rPr lang="es-ES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‹Nº›</a:t>
            </a:fld>
            <a:endParaRPr lang="es-ES" sz="1000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hyperlink" Target="Recoleccion/levantamiento%20de%20Informacion.docx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hyperlink" Target="Recoleccion/levantamiento%20de%20Informacion.docx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5" Type="http://schemas.openxmlformats.org/officeDocument/2006/relationships/hyperlink" Target="Inventario%20de%20%20Equipos%202017.xls" TargetMode="Externa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5" Type="http://schemas.openxmlformats.org/officeDocument/2006/relationships/hyperlink" Target="formato-ieee-830.doc" TargetMode="Externa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5" Type="http://schemas.openxmlformats.org/officeDocument/2006/relationships/hyperlink" Target="formato-ieee-830.doc" TargetMode="Externa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Shape 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750" y="3275075"/>
            <a:ext cx="5297754" cy="8504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Shape 88"/>
          <p:cNvSpPr txBox="1"/>
          <p:nvPr/>
        </p:nvSpPr>
        <p:spPr>
          <a:xfrm>
            <a:off x="551729" y="833442"/>
            <a:ext cx="4432500" cy="954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r>
              <a:rPr lang="es-ES" sz="3000" b="1" dirty="0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Proyectos Primer</a:t>
            </a:r>
            <a:r>
              <a:rPr lang="es-E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3000" b="1" dirty="0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Trimestre ADSI Nocturno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Shape 89"/>
          <p:cNvSpPr txBox="1"/>
          <p:nvPr/>
        </p:nvSpPr>
        <p:spPr>
          <a:xfrm>
            <a:off x="261428" y="2219600"/>
            <a:ext cx="5378400" cy="991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r>
              <a:rPr lang="es-ES" sz="2400" b="1" i="0" u="none" strike="noStrike" cap="none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Freddy Leonardo Castaño Fernández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r>
              <a:rPr lang="es-ES" sz="2400" b="1" i="0" u="none" strike="noStrike" cap="none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Ernesto Giraldo Barón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/>
        </p:nvSpPr>
        <p:spPr>
          <a:xfrm>
            <a:off x="2964563" y="1269537"/>
            <a:ext cx="1977600" cy="769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342900" lvl="0" indent="-254000" rtl="0">
              <a:spcBef>
                <a:spcPts val="560"/>
              </a:spcBef>
              <a:buClr>
                <a:srgbClr val="FF9900"/>
              </a:buClr>
              <a:buSzPts val="1400"/>
              <a:buFont typeface="Noto Sans Symbols"/>
              <a:buChar char="❑"/>
            </a:pPr>
            <a:r>
              <a:rPr lang="es-ES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</a:p>
          <a:p>
            <a:pPr marL="342900" lvl="0" indent="-254000" rtl="0">
              <a:spcBef>
                <a:spcPts val="560"/>
              </a:spcBef>
              <a:buClr>
                <a:srgbClr val="FF9900"/>
              </a:buClr>
              <a:buSzPts val="1400"/>
              <a:buFont typeface="Noto Sans Symbols"/>
              <a:buChar char="❑"/>
            </a:pPr>
            <a:r>
              <a:rPr lang="es-ES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</a:p>
          <a:p>
            <a:pPr marL="342900" lvl="0" indent="-254000" rtl="0">
              <a:spcBef>
                <a:spcPts val="560"/>
              </a:spcBef>
              <a:buClr>
                <a:srgbClr val="FF9900"/>
              </a:buClr>
              <a:buSzPts val="1400"/>
              <a:buFont typeface="Noto Sans Symbols"/>
              <a:buChar char="❑"/>
            </a:pPr>
            <a:r>
              <a:rPr lang="es-ES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</a:p>
          <a:p>
            <a:pPr marL="342900" lvl="0" indent="-254000" rtl="0">
              <a:spcBef>
                <a:spcPts val="560"/>
              </a:spcBef>
              <a:buClr>
                <a:srgbClr val="FF9900"/>
              </a:buClr>
              <a:buSzPts val="1400"/>
              <a:buFont typeface="Noto Sans Symbols"/>
              <a:buChar char="❑"/>
            </a:pPr>
            <a:r>
              <a:rPr lang="es-ES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</a:p>
          <a:p>
            <a:pPr marL="342900" lvl="0" indent="-254000" rtl="0">
              <a:spcBef>
                <a:spcPts val="560"/>
              </a:spcBef>
              <a:buClr>
                <a:srgbClr val="FF9900"/>
              </a:buClr>
              <a:buSzPts val="1400"/>
              <a:buFont typeface="Noto Sans Symbols"/>
              <a:buChar char="❑"/>
            </a:pPr>
            <a:r>
              <a:rPr lang="es-ES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Justificación Que, como, donde, cuando, porqué y costo?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22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Shape 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0294" y="4426022"/>
            <a:ext cx="162304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Shape 97"/>
          <p:cNvSpPr txBox="1"/>
          <p:nvPr/>
        </p:nvSpPr>
        <p:spPr>
          <a:xfrm>
            <a:off x="233221" y="1477812"/>
            <a:ext cx="1977600" cy="769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342900" rtl="0">
              <a:spcBef>
                <a:spcPts val="0"/>
              </a:spcBef>
              <a:buSzPts val="5400"/>
              <a:buNone/>
            </a:pPr>
            <a:r>
              <a:rPr lang="es-E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Componente </a:t>
            </a:r>
          </a:p>
          <a:p>
            <a:pPr marL="0" lvl="0" indent="-279400" rtl="0">
              <a:spcBef>
                <a:spcPts val="0"/>
              </a:spcBef>
              <a:buClr>
                <a:srgbClr val="F2F2F2"/>
              </a:buClr>
              <a:buSzPts val="4400"/>
              <a:buFont typeface="Calibri"/>
              <a:buNone/>
            </a:pPr>
            <a:r>
              <a:rPr lang="es-ES" sz="24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Metodológico</a:t>
            </a:r>
          </a:p>
        </p:txBody>
      </p:sp>
      <p:sp>
        <p:nvSpPr>
          <p:cNvPr id="98" name="Shape 98"/>
          <p:cNvSpPr txBox="1"/>
          <p:nvPr/>
        </p:nvSpPr>
        <p:spPr>
          <a:xfrm>
            <a:off x="5941149" y="1670656"/>
            <a:ext cx="2702961" cy="105802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algn="just" rtl="0">
              <a:spcBef>
                <a:spcPts val="0"/>
              </a:spcBef>
              <a:buClr>
                <a:srgbClr val="000000"/>
              </a:buClr>
              <a:buSzPts val="1100"/>
              <a:buFont typeface="Arial"/>
              <a:buNone/>
            </a:pPr>
            <a:r>
              <a:rPr lang="es-ES" sz="1000" dirty="0"/>
              <a:t>El nombre viene de la mezcla de las palabras Francesas de “Dossier” (significa desde el siglo xviii respaldo o más exactamente un expediente que contiene una información relacionada con un tema que sirve de referencia para su consulta) e “Immédiat” (Inmediato), de allí la intención de transmitir a los usuarios de nuestra plataforma que las acciones serán en tiempo real para la consulta y generación de los reportes comerciales.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dirty="0">
              <a:solidFill>
                <a:srgbClr val="5E5C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Shape 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5987" y="1696034"/>
            <a:ext cx="36000" cy="2340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Shape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4650" y="900900"/>
            <a:ext cx="3259460" cy="52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/>
          <p:nvPr/>
        </p:nvSpPr>
        <p:spPr>
          <a:xfrm>
            <a:off x="533478" y="2012401"/>
            <a:ext cx="2789280" cy="120032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560"/>
              </a:spcBef>
              <a:buNone/>
            </a:pPr>
            <a:r>
              <a:rPr lang="es-ES" sz="24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</a:p>
        </p:txBody>
      </p:sp>
      <p:sp>
        <p:nvSpPr>
          <p:cNvPr id="106" name="Shape 106"/>
          <p:cNvSpPr txBox="1"/>
          <p:nvPr/>
        </p:nvSpPr>
        <p:spPr>
          <a:xfrm>
            <a:off x="4357798" y="1156876"/>
            <a:ext cx="3885300" cy="1815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s-ES" sz="1800" dirty="0">
                <a:latin typeface="Calibri"/>
                <a:ea typeface="Calibri"/>
                <a:cs typeface="Calibri"/>
                <a:sym typeface="Calibri"/>
              </a:rPr>
              <a:t>Diseñar e implementar una Plataforma Web que cumpla las necesidades básicas de las empresas de comercio al por menor o al detalle (retail), Otorgando una gestión de inventarios, seguimiento de metas y reportes  que logre superar las expectativas de los clientes, garantizando un servicio óptimo de calidad  con la seguridad y confianza que el sector Comercial requiere.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Shape 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721" y="1958193"/>
            <a:ext cx="2413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 txBox="1"/>
          <p:nvPr/>
        </p:nvSpPr>
        <p:spPr>
          <a:xfrm>
            <a:off x="954675" y="144875"/>
            <a:ext cx="53640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r>
              <a:rPr lang="es-ES" sz="3600" b="1" dirty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Objetivos Especificos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954674" y="1698826"/>
            <a:ext cx="5937000" cy="1169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171450" lvl="0" indent="-222250" algn="just" rtl="0">
              <a:spcBef>
                <a:spcPts val="0"/>
              </a:spcBef>
              <a:buClr>
                <a:srgbClr val="000000"/>
              </a:buClr>
              <a:buSzPts val="180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  <a:sym typeface="Calibri"/>
              </a:rPr>
              <a:t>Identificar los servicios ofrecidos del mercado actual para suplir a cabalidad las necesidades de nuestros clientes.</a:t>
            </a:r>
          </a:p>
          <a:p>
            <a:pPr marL="171450" lvl="0" indent="-222250" algn="just" rtl="0">
              <a:spcBef>
                <a:spcPts val="0"/>
              </a:spcBef>
              <a:buClr>
                <a:srgbClr val="000000"/>
              </a:buClr>
              <a:buSzPts val="180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  <a:sym typeface="Calibri"/>
              </a:rPr>
              <a:t>Implementar Una Prueba Piloto en la empresa (Envia Colbanes) para así cuantificar los tiempos que pueden tardar cada una de las etapas de puesta en producción del proyecto.</a:t>
            </a:r>
          </a:p>
          <a:p>
            <a:pPr marL="171450" lvl="0" indent="-222250" algn="just" rtl="0">
              <a:spcBef>
                <a:spcPts val="0"/>
              </a:spcBef>
              <a:buClr>
                <a:srgbClr val="000000"/>
              </a:buClr>
              <a:buSzPts val="1800"/>
              <a:buChar char="•"/>
            </a:pPr>
            <a:r>
              <a:rPr lang="es-ES" sz="1800" dirty="0">
                <a:latin typeface="Calibri"/>
                <a:ea typeface="Calibri"/>
                <a:cs typeface="Calibri"/>
                <a:sym typeface="Calibri"/>
              </a:rPr>
              <a:t>Definir los requerimientos Necesarios como Insumo para la elaboración de la plataforma Web a partir de la información recolectada.</a:t>
            </a:r>
          </a:p>
          <a:p>
            <a:pPr marL="171450" lvl="0" indent="-171450" rtl="0"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None/>
            </a:pPr>
            <a:endParaRPr dirty="0">
              <a:solidFill>
                <a:srgbClr val="5E5C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Shape 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721" y="1958193"/>
            <a:ext cx="2412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Shape 119"/>
          <p:cNvSpPr txBox="1"/>
          <p:nvPr/>
        </p:nvSpPr>
        <p:spPr>
          <a:xfrm>
            <a:off x="954675" y="144875"/>
            <a:ext cx="76521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rtl="0">
              <a:spcBef>
                <a:spcPts val="56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s-ES" sz="3600" b="1" dirty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</a:p>
        </p:txBody>
      </p:sp>
      <p:sp>
        <p:nvSpPr>
          <p:cNvPr id="120" name="Shape 120"/>
          <p:cNvSpPr txBox="1"/>
          <p:nvPr/>
        </p:nvSpPr>
        <p:spPr>
          <a:xfrm>
            <a:off x="954674" y="1441126"/>
            <a:ext cx="5937000" cy="1169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s-ES" dirty="0"/>
              <a:t>A la hora que una organización comercial busque actualizar sus procesos para el control de ventas de cada uno de sus representantes a nivel nacional, se requiere optimizar los reportes que realizan cada uno de los asesores en tiempo real y debido a que actualmente la gran evolución económica y tecnológica ha impulsado la venta al por menor o al detalle de productos altamente adquiridos en los hogares  Colombianos. Nace la necesidad de crear una plataforma web integral que permitirá a las empresas tener control de las ventas realizadas por cada uno de los asesores que dispongan en diferentes puntos de venta a nivel nacional; y así mismo de gestionar el inventario, generar reportes en tiempo real y tener de forma exacta información tabulada para la generación de reportes y medición de métricas, esto impulsado a la creación de estrategias que generen enriquecer el alcance esperado del cliente final.</a:t>
            </a:r>
          </a:p>
          <a:p>
            <a:pPr marL="171450" lvl="0" indent="-171450" rtl="0">
              <a:spcBef>
                <a:spcPts val="0"/>
              </a:spcBef>
              <a:buSzPts val="1000"/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None/>
            </a:pPr>
            <a:endParaRPr dirty="0">
              <a:solidFill>
                <a:srgbClr val="5E5C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Shape 1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721" y="1958193"/>
            <a:ext cx="2412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Shape 126"/>
          <p:cNvSpPr txBox="1"/>
          <p:nvPr/>
        </p:nvSpPr>
        <p:spPr>
          <a:xfrm>
            <a:off x="954675" y="144875"/>
            <a:ext cx="76521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sz="3600" b="1" dirty="0" smtClean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Delimitación </a:t>
            </a:r>
            <a:r>
              <a:rPr lang="es-ES" sz="3600" b="1" dirty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y Alcance</a:t>
            </a:r>
          </a:p>
        </p:txBody>
      </p:sp>
      <p:sp>
        <p:nvSpPr>
          <p:cNvPr id="127" name="Shape 127"/>
          <p:cNvSpPr txBox="1"/>
          <p:nvPr/>
        </p:nvSpPr>
        <p:spPr>
          <a:xfrm>
            <a:off x="187725" y="1008200"/>
            <a:ext cx="8513100" cy="1169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algn="just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 dirty="0"/>
              <a:t>El proyecto está dirigido para ser adaptable a diferentes empresas formales e informales de comercio al por menor o al detalle (retail) , es aquí en donde se va a desarrollar el proyecto en el lapso de tiempo que dure la carrera ADSI hasta que se culmine la misma.</a:t>
            </a:r>
          </a:p>
          <a:p>
            <a:pPr marL="0" lvl="0" indent="-69850" algn="just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 dirty="0"/>
              <a:t> </a:t>
            </a:r>
          </a:p>
          <a:p>
            <a:pPr marL="0" lvl="0" indent="-69850" algn="just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 dirty="0"/>
              <a:t>De igual manera la base de estudio del proyecto es evidenciar cómo se va a Diseñar e implementar la Plataforma Web que cumpla las necesidades básicas de las empresas de comercio al por menor o al detalle (retail), Otorgando  gestión de inventarios, seguimiento de metas y reportes.</a:t>
            </a:r>
          </a:p>
          <a:p>
            <a:pPr marL="0" lvl="0" indent="-69850" algn="just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sz="1300" dirty="0"/>
          </a:p>
          <a:p>
            <a:pPr marL="0" lvl="0" indent="-69850" algn="just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 dirty="0"/>
              <a:t>El alcance del proyecto va encaminado hacia el manejo de la información por cuanto se debe mantener una confidencialidad donde el administrador de la plataforma  sea el único que tenga acceso a la información como usuario principal y se encapsule  de manera legítima  el manejo de estos datos por parte de los desarrolladores del sistema.</a:t>
            </a:r>
          </a:p>
          <a:p>
            <a:pPr marL="0" lvl="0" indent="-69850" algn="just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 dirty="0"/>
              <a:t> </a:t>
            </a:r>
          </a:p>
          <a:p>
            <a:pPr marL="0" lvl="0" indent="-69850" algn="just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 dirty="0"/>
              <a:t>El Sistema de Gestión Web Dossimméd contará con:</a:t>
            </a:r>
          </a:p>
          <a:p>
            <a:pPr marL="0" lvl="0" indent="-69850" algn="just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 dirty="0"/>
              <a:t>-Creación y alimentación de base de datos</a:t>
            </a:r>
          </a:p>
          <a:p>
            <a:pPr marL="0" lvl="0" indent="-69850" algn="just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 dirty="0"/>
              <a:t>-Módulo de reportes</a:t>
            </a:r>
          </a:p>
          <a:p>
            <a:pPr marL="0" lvl="0" indent="-69850" algn="just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s-ES" sz="1300" dirty="0"/>
              <a:t>-Módulo de Gestión de Inventarios</a:t>
            </a:r>
          </a:p>
          <a:p>
            <a:pPr marL="0" lvl="0" indent="-69850" rtl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-69850" algn="just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171450" lvl="0" indent="-171450" rtl="0">
              <a:spcBef>
                <a:spcPts val="0"/>
              </a:spcBef>
              <a:buSzPts val="1000"/>
              <a:buNone/>
            </a:pP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buNone/>
            </a:pPr>
            <a:endParaRPr dirty="0">
              <a:solidFill>
                <a:srgbClr val="5E5C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3736541" y="70513"/>
            <a:ext cx="4920656" cy="1815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69850" algn="just">
              <a:lnSpc>
                <a:spcPct val="115000"/>
              </a:lnSpc>
              <a:buSzPts val="1100"/>
            </a:pPr>
            <a:r>
              <a:rPr lang="es-419" dirty="0"/>
              <a:t>La necesidad se evidenció en nuestro ejercicio de levantamiento de información, donde encontramos que las empresas formales e informales de comercio al por menor o al detalle (</a:t>
            </a:r>
            <a:r>
              <a:rPr lang="es-419" dirty="0" err="1"/>
              <a:t>retail</a:t>
            </a:r>
            <a:r>
              <a:rPr lang="es-419" dirty="0"/>
              <a:t>), no cuentan con un sistema de gestión digitalizado para el procesamiento de inventarios, seguimiento de metas y reportes.</a:t>
            </a:r>
          </a:p>
          <a:p>
            <a:pPr lvl="0" indent="-69850" algn="just">
              <a:lnSpc>
                <a:spcPct val="115000"/>
              </a:lnSpc>
              <a:buSzPts val="1100"/>
            </a:pPr>
            <a:endParaRPr lang="es-419" dirty="0"/>
          </a:p>
          <a:p>
            <a:pPr lvl="0" indent="-69850" algn="just">
              <a:lnSpc>
                <a:spcPct val="115000"/>
              </a:lnSpc>
              <a:buSzPts val="1100"/>
            </a:pPr>
            <a:r>
              <a:rPr lang="es-419" dirty="0"/>
              <a:t>Por ello se pretende crear un sistema de información que apoye las acciones de un área comercial que busca gestionar de forma web la administración de inventarios, seguimiento de metas y reportes, partiendo de un sistema que esté a la vanguardia de la tecnología. Utilizando a </a:t>
            </a:r>
            <a:r>
              <a:rPr lang="es-419" dirty="0" err="1" smtClean="0"/>
              <a:t>Envia</a:t>
            </a:r>
            <a:r>
              <a:rPr lang="es-419" dirty="0" smtClean="0"/>
              <a:t> </a:t>
            </a:r>
            <a:r>
              <a:rPr lang="es-419" dirty="0" err="1" smtClean="0"/>
              <a:t>Colvanes</a:t>
            </a:r>
            <a:r>
              <a:rPr lang="es-419" dirty="0" smtClean="0"/>
              <a:t> </a:t>
            </a:r>
            <a:r>
              <a:rPr lang="es-419" dirty="0"/>
              <a:t>como empresa pionera de la </a:t>
            </a:r>
            <a:r>
              <a:rPr lang="es-419" dirty="0" smtClean="0"/>
              <a:t>implementación </a:t>
            </a:r>
            <a:r>
              <a:rPr lang="es-419" dirty="0"/>
              <a:t>de nuestro piloto durante los 8 trimestres (24 meses) de </a:t>
            </a:r>
            <a:r>
              <a:rPr lang="es-419" dirty="0" smtClean="0"/>
              <a:t>duración </a:t>
            </a:r>
            <a:r>
              <a:rPr lang="es-419" dirty="0"/>
              <a:t>del programa formativo ADSI.</a:t>
            </a:r>
          </a:p>
          <a:p>
            <a:pPr lvl="0" indent="-69850" algn="just">
              <a:lnSpc>
                <a:spcPct val="115000"/>
              </a:lnSpc>
              <a:buSzPts val="1100"/>
            </a:pPr>
            <a:endParaRPr lang="es-419" dirty="0"/>
          </a:p>
          <a:p>
            <a:pPr lvl="0" indent="-69850" algn="just">
              <a:lnSpc>
                <a:spcPct val="115000"/>
              </a:lnSpc>
              <a:buSzPts val="1100"/>
            </a:pPr>
            <a:r>
              <a:rPr lang="es-419" dirty="0"/>
              <a:t>Y con ello lograr superar las expectativas de los clientes, garantizando un servicio óptimo de calidad  con la seguridad y confianza que el sector Comercial requiere.</a:t>
            </a:r>
            <a:endParaRPr lang="es-ES" dirty="0"/>
          </a:p>
        </p:txBody>
      </p:sp>
      <p:sp>
        <p:nvSpPr>
          <p:cNvPr id="133" name="Shape 133"/>
          <p:cNvSpPr txBox="1"/>
          <p:nvPr/>
        </p:nvSpPr>
        <p:spPr>
          <a:xfrm>
            <a:off x="533478" y="2012401"/>
            <a:ext cx="2789400" cy="1200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560"/>
              </a:spcBef>
              <a:buNone/>
            </a:pPr>
            <a:r>
              <a:rPr lang="es-ES" sz="30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lang="es-ES" sz="3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/>
        </p:nvSpPr>
        <p:spPr>
          <a:xfrm>
            <a:off x="2843251" y="1547500"/>
            <a:ext cx="2220300" cy="769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342900" lvl="0" indent="-254000" rtl="0">
              <a:spcBef>
                <a:spcPts val="0"/>
              </a:spcBef>
              <a:buClr>
                <a:srgbClr val="FF9900"/>
              </a:buClr>
              <a:buSzPts val="1400"/>
              <a:buFont typeface="Arial"/>
              <a:buChar char="❑"/>
            </a:pPr>
            <a:r>
              <a:rPr lang="es-ES" dirty="0">
                <a:solidFill>
                  <a:srgbClr val="FF9900"/>
                </a:solidFill>
              </a:rPr>
              <a:t>Técnicas del levantamiento de información</a:t>
            </a:r>
          </a:p>
          <a:p>
            <a:pPr marL="0" lvl="0" indent="-177800" rtl="0"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None/>
            </a:pPr>
            <a:endParaRPr dirty="0">
              <a:solidFill>
                <a:srgbClr val="FF9900"/>
              </a:solidFill>
            </a:endParaRPr>
          </a:p>
          <a:p>
            <a:pPr marL="342900" lvl="0" indent="-254000" rtl="0">
              <a:spcBef>
                <a:spcPts val="560"/>
              </a:spcBef>
              <a:buClr>
                <a:srgbClr val="FF9900"/>
              </a:buClr>
              <a:buSzPts val="1400"/>
              <a:buFont typeface="Arial"/>
              <a:buChar char="❑"/>
            </a:pPr>
            <a:r>
              <a:rPr lang="es-ES" dirty="0">
                <a:solidFill>
                  <a:srgbClr val="FF9900"/>
                </a:solidFill>
              </a:rPr>
              <a:t>Mapa de procesos de la Organización</a:t>
            </a:r>
          </a:p>
          <a:p>
            <a:pPr marL="0" lvl="0" indent="-177800" rtl="0">
              <a:spcBef>
                <a:spcPts val="560"/>
              </a:spcBef>
              <a:buClr>
                <a:srgbClr val="3F3F3F"/>
              </a:buClr>
              <a:buSzPts val="2800"/>
              <a:buFont typeface="Arial"/>
              <a:buNone/>
            </a:pPr>
            <a:r>
              <a:rPr lang="es-ES" dirty="0">
                <a:solidFill>
                  <a:srgbClr val="FF9900"/>
                </a:solidFill>
              </a:rPr>
              <a:t>	-BPMN </a:t>
            </a:r>
          </a:p>
          <a:p>
            <a:pPr marL="0" lvl="0" indent="-177800" rtl="0">
              <a:spcBef>
                <a:spcPts val="560"/>
              </a:spcBef>
              <a:buClr>
                <a:schemeClr val="dk1"/>
              </a:buClr>
              <a:buSzPts val="2800"/>
              <a:buFont typeface="Arial"/>
              <a:buNone/>
            </a:pPr>
            <a:endParaRPr dirty="0">
              <a:solidFill>
                <a:srgbClr val="FF9900"/>
              </a:solidFill>
            </a:endParaRPr>
          </a:p>
          <a:p>
            <a:pPr marL="342900" lvl="0" indent="-254000" rtl="0">
              <a:spcBef>
                <a:spcPts val="560"/>
              </a:spcBef>
              <a:buClr>
                <a:srgbClr val="FF9900"/>
              </a:buClr>
              <a:buSzPts val="1400"/>
              <a:buFont typeface="Arial"/>
              <a:buChar char="❑"/>
            </a:pPr>
            <a:r>
              <a:rPr lang="es-ES" dirty="0">
                <a:solidFill>
                  <a:srgbClr val="FF9900"/>
                </a:solidFill>
              </a:rPr>
              <a:t>Hardware, software con el que cuenta el cliente. (Inventario)</a:t>
            </a:r>
          </a:p>
        </p:txBody>
      </p:sp>
      <p:pic>
        <p:nvPicPr>
          <p:cNvPr id="140" name="Shape 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0294" y="4426022"/>
            <a:ext cx="162304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Shape 141"/>
          <p:cNvSpPr txBox="1"/>
          <p:nvPr/>
        </p:nvSpPr>
        <p:spPr>
          <a:xfrm>
            <a:off x="233221" y="1477812"/>
            <a:ext cx="1977600" cy="769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342900" rtl="0">
              <a:spcBef>
                <a:spcPts val="0"/>
              </a:spcBef>
              <a:buSzPts val="5400"/>
              <a:buNone/>
            </a:pPr>
            <a:r>
              <a:rPr lang="es-E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Componente </a:t>
            </a:r>
          </a:p>
          <a:p>
            <a:pPr marL="0" lvl="0" indent="-279400" rtl="0">
              <a:spcBef>
                <a:spcPts val="0"/>
              </a:spcBef>
              <a:buClr>
                <a:srgbClr val="F2F2F2"/>
              </a:buClr>
              <a:buSzPts val="4400"/>
              <a:buFont typeface="Calibri"/>
              <a:buNone/>
            </a:pPr>
            <a:r>
              <a:rPr lang="es-ES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Técnico</a:t>
            </a:r>
            <a:endParaRPr lang="es-ES" sz="24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Shape 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3925" y="2515075"/>
            <a:ext cx="4120075" cy="66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Shape 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721" y="1958193"/>
            <a:ext cx="2412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Shape 148"/>
          <p:cNvSpPr txBox="1"/>
          <p:nvPr/>
        </p:nvSpPr>
        <p:spPr>
          <a:xfrm>
            <a:off x="954675" y="144875"/>
            <a:ext cx="76521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sz="3000" b="1" dirty="0" smtClean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Técnicas </a:t>
            </a:r>
            <a:r>
              <a:rPr lang="es-ES" sz="3000" b="1" dirty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de Levantamiento de </a:t>
            </a:r>
            <a:r>
              <a:rPr lang="es-ES" sz="3000" b="1" dirty="0" smtClean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 lang="es-ES" sz="3000" b="1" dirty="0">
              <a:solidFill>
                <a:srgbClr val="E8E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Shape 149"/>
          <p:cNvSpPr txBox="1"/>
          <p:nvPr/>
        </p:nvSpPr>
        <p:spPr>
          <a:xfrm>
            <a:off x="0" y="1678200"/>
            <a:ext cx="8411100" cy="1169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88900" rtl="0">
              <a:spcBef>
                <a:spcPts val="280"/>
              </a:spcBef>
              <a:buClr>
                <a:srgbClr val="3F3F3F"/>
              </a:buClr>
              <a:buSzPts val="1400"/>
              <a:buFont typeface="Arial"/>
              <a:buNone/>
            </a:pPr>
            <a:r>
              <a:rPr lang="es-ES" dirty="0">
                <a:solidFill>
                  <a:srgbClr val="3F3F3F"/>
                </a:solidFill>
              </a:rPr>
              <a:t>Para el levantamiento de requerimientos del proyecto, se tomó en cuenta las diferentes perspectivas del negocio, del cliente y de la parte técnica para definir cuál o cuáles eran las técnicas de Recolección indicadas para este proyecto, es así como  en el transcurso de la investigación se aplicaron las siguientes: </a:t>
            </a:r>
          </a:p>
          <a:p>
            <a:pPr marL="0" lvl="0" indent="-88900" rtl="0">
              <a:spcBef>
                <a:spcPts val="280"/>
              </a:spcBef>
              <a:buClr>
                <a:schemeClr val="dk1"/>
              </a:buClr>
              <a:buSzPts val="1400"/>
              <a:buFont typeface="Arial"/>
              <a:buNone/>
            </a:pPr>
            <a:endParaRPr dirty="0">
              <a:solidFill>
                <a:srgbClr val="3F3F3F"/>
              </a:solidFill>
            </a:endParaRPr>
          </a:p>
          <a:p>
            <a:pPr marL="342900" lvl="0" indent="-342900" rtl="0">
              <a:spcBef>
                <a:spcPts val="280"/>
              </a:spcBef>
              <a:buClr>
                <a:srgbClr val="3F3F3F"/>
              </a:buClr>
              <a:buSzPts val="1400"/>
              <a:buChar char="•"/>
            </a:pPr>
            <a:r>
              <a:rPr lang="es-ES" dirty="0">
                <a:solidFill>
                  <a:srgbClr val="3F3F3F"/>
                </a:solidFill>
              </a:rPr>
              <a:t>Entrevista a 1 persona de cada Roll que utilizara la plataforma para tomar como muestra</a:t>
            </a:r>
          </a:p>
          <a:p>
            <a:pPr marL="342900" lvl="0" indent="-342900" rtl="0">
              <a:spcBef>
                <a:spcPts val="280"/>
              </a:spcBef>
              <a:buClr>
                <a:srgbClr val="3F3F3F"/>
              </a:buClr>
              <a:buSzPts val="1400"/>
              <a:buChar char="•"/>
            </a:pPr>
            <a:r>
              <a:rPr lang="es-ES" dirty="0">
                <a:solidFill>
                  <a:srgbClr val="3F3F3F"/>
                </a:solidFill>
              </a:rPr>
              <a:t>Encuestas aplicadas a los demás empleados por cargos (Asesor, Coordinador </a:t>
            </a:r>
            <a:r>
              <a:rPr lang="es-ES" dirty="0" smtClean="0">
                <a:solidFill>
                  <a:srgbClr val="3F3F3F"/>
                </a:solidFill>
              </a:rPr>
              <a:t>).</a:t>
            </a:r>
          </a:p>
          <a:p>
            <a:pPr marL="342900" lvl="0" indent="-342900" rtl="0">
              <a:spcBef>
                <a:spcPts val="280"/>
              </a:spcBef>
              <a:buClr>
                <a:srgbClr val="3F3F3F"/>
              </a:buClr>
              <a:buSzPts val="1400"/>
              <a:buChar char="•"/>
            </a:pPr>
            <a:r>
              <a:rPr lang="es-419" dirty="0" smtClean="0">
                <a:solidFill>
                  <a:srgbClr val="3F3F3F"/>
                </a:solidFill>
              </a:rPr>
              <a:t>Técnica de observación con el fin de identificar el inventario (Hardware y Software) de los eq</a:t>
            </a:r>
            <a:r>
              <a:rPr lang="es-419" dirty="0" smtClean="0">
                <a:solidFill>
                  <a:srgbClr val="3F3F3F"/>
                </a:solidFill>
              </a:rPr>
              <a:t>uipos con los que cuenta el cliente para la implementación del piloto</a:t>
            </a:r>
            <a:r>
              <a:rPr lang="es-419" dirty="0" smtClean="0">
                <a:solidFill>
                  <a:srgbClr val="3F3F3F"/>
                </a:solidFill>
              </a:rPr>
              <a:t>.</a:t>
            </a:r>
            <a:endParaRPr lang="es-ES" dirty="0">
              <a:solidFill>
                <a:srgbClr val="3F3F3F"/>
              </a:solidFill>
            </a:endParaRPr>
          </a:p>
          <a:p>
            <a:pPr marL="0" lvl="0" indent="-88900" rtl="0">
              <a:spcBef>
                <a:spcPts val="280"/>
              </a:spcBef>
              <a:buClr>
                <a:srgbClr val="3F3F3F"/>
              </a:buClr>
              <a:buSzPts val="1400"/>
              <a:buFont typeface="Arial"/>
              <a:buNone/>
            </a:pPr>
            <a:endParaRPr lang="es-ES" dirty="0" smtClean="0">
              <a:solidFill>
                <a:srgbClr val="3F3F3F"/>
              </a:solidFill>
            </a:endParaRPr>
          </a:p>
          <a:p>
            <a:pPr marL="0" lvl="0" indent="-88900" rtl="0">
              <a:spcBef>
                <a:spcPts val="280"/>
              </a:spcBef>
              <a:buClr>
                <a:srgbClr val="3F3F3F"/>
              </a:buClr>
              <a:buSzPts val="1400"/>
              <a:buFont typeface="Arial"/>
              <a:buNone/>
            </a:pPr>
            <a:r>
              <a:rPr lang="es-ES" dirty="0" smtClean="0">
                <a:solidFill>
                  <a:srgbClr val="3F3F3F"/>
                </a:solidFill>
              </a:rPr>
              <a:t>De </a:t>
            </a:r>
            <a:r>
              <a:rPr lang="es-ES" dirty="0">
                <a:solidFill>
                  <a:srgbClr val="3F3F3F"/>
                </a:solidFill>
              </a:rPr>
              <a:t>esta manera se recopiló la información requerida para determinar la necesidad  del proyecto.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dirty="0">
              <a:solidFill>
                <a:srgbClr val="5E5C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/>
        </p:nvSpPr>
        <p:spPr>
          <a:xfrm>
            <a:off x="533478" y="2012401"/>
            <a:ext cx="2789400" cy="1200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560"/>
              </a:spcBef>
              <a:buNone/>
            </a:pPr>
            <a:r>
              <a:rPr lang="es-ES" sz="3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Encuesta N°1</a:t>
            </a:r>
          </a:p>
        </p:txBody>
      </p:sp>
      <p:pic>
        <p:nvPicPr>
          <p:cNvPr id="155" name="Shape 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128" y="152400"/>
            <a:ext cx="415870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/>
          <p:nvPr/>
        </p:nvSpPr>
        <p:spPr>
          <a:xfrm>
            <a:off x="533478" y="2012401"/>
            <a:ext cx="2789400" cy="1200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560"/>
              </a:spcBef>
              <a:buNone/>
            </a:pPr>
            <a:r>
              <a:rPr lang="es-ES" sz="3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Encuesta N°2</a:t>
            </a:r>
          </a:p>
        </p:txBody>
      </p:sp>
      <p:pic>
        <p:nvPicPr>
          <p:cNvPr id="161" name="Shape 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603" y="193200"/>
            <a:ext cx="433283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Shape 1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721" y="1958193"/>
            <a:ext cx="2412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Shape 167"/>
          <p:cNvSpPr txBox="1"/>
          <p:nvPr/>
        </p:nvSpPr>
        <p:spPr>
          <a:xfrm>
            <a:off x="954675" y="144875"/>
            <a:ext cx="76521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sz="3000" b="1" dirty="0" smtClean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Técnicas </a:t>
            </a:r>
            <a:r>
              <a:rPr lang="es-ES" sz="3000" b="1" dirty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de Levantamiento de </a:t>
            </a:r>
            <a:r>
              <a:rPr lang="es-ES" sz="3000" b="1" dirty="0" smtClean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 lang="es-ES" sz="3000" b="1" dirty="0">
              <a:solidFill>
                <a:srgbClr val="E8E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b="1" dirty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Rol Asesor</a:t>
            </a:r>
          </a:p>
        </p:txBody>
      </p:sp>
      <p:pic>
        <p:nvPicPr>
          <p:cNvPr id="168" name="Shape 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24025"/>
            <a:ext cx="5389775" cy="27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Shape 1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4575" y="2621675"/>
            <a:ext cx="5389775" cy="252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/>
          <p:cNvSpPr txBox="1"/>
          <p:nvPr/>
        </p:nvSpPr>
        <p:spPr>
          <a:xfrm>
            <a:off x="0" y="4896740"/>
            <a:ext cx="2033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hlinkClick r:id="rId6" action="ppaction://hlinkfile"/>
              </a:rPr>
              <a:t>Informe Completo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Shape 1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721" y="1958193"/>
            <a:ext cx="2412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Shape 175"/>
          <p:cNvSpPr txBox="1"/>
          <p:nvPr/>
        </p:nvSpPr>
        <p:spPr>
          <a:xfrm>
            <a:off x="954675" y="144875"/>
            <a:ext cx="76521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sz="3000" b="1" dirty="0" smtClean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Técnicas </a:t>
            </a:r>
            <a:r>
              <a:rPr lang="es-ES" sz="3000" b="1" dirty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de Levantamiento de </a:t>
            </a:r>
            <a:r>
              <a:rPr lang="es-ES" sz="3000" b="1" dirty="0" smtClean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 lang="es-ES" sz="3000" b="1" dirty="0">
              <a:solidFill>
                <a:srgbClr val="E8E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b="1" dirty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Rol Coordinador</a:t>
            </a:r>
          </a:p>
        </p:txBody>
      </p:sp>
      <p:pic>
        <p:nvPicPr>
          <p:cNvPr id="176" name="Shape 1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82475" y="997125"/>
            <a:ext cx="5402842" cy="25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Shape 1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6125" y="2404300"/>
            <a:ext cx="4917875" cy="27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/>
          <p:cNvSpPr txBox="1"/>
          <p:nvPr/>
        </p:nvSpPr>
        <p:spPr>
          <a:xfrm>
            <a:off x="0" y="4896740"/>
            <a:ext cx="2033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hlinkClick r:id="rId6" action="ppaction://hlinkfile"/>
              </a:rPr>
              <a:t>Informe Completo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Shape 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721" y="1958193"/>
            <a:ext cx="2412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Shape 183"/>
          <p:cNvSpPr txBox="1"/>
          <p:nvPr/>
        </p:nvSpPr>
        <p:spPr>
          <a:xfrm>
            <a:off x="954675" y="144875"/>
            <a:ext cx="76521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sz="3000" b="1" dirty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Mapa De Procesos</a:t>
            </a:r>
          </a:p>
          <a:p>
            <a:pPr marL="0" lvl="0" indent="-69850" rtl="0">
              <a:spcBef>
                <a:spcPts val="560"/>
              </a:spcBef>
              <a:buSzPts val="1100"/>
              <a:buNone/>
            </a:pPr>
            <a:endParaRPr b="1" dirty="0">
              <a:solidFill>
                <a:srgbClr val="E8E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Shape 1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24050"/>
            <a:ext cx="9010500" cy="411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Shape 1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721" y="1958193"/>
            <a:ext cx="2412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Shape 190"/>
          <p:cNvSpPr txBox="1"/>
          <p:nvPr/>
        </p:nvSpPr>
        <p:spPr>
          <a:xfrm>
            <a:off x="954675" y="144875"/>
            <a:ext cx="76521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sz="3000" b="1" dirty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Inventario (Hardware y Software)</a:t>
            </a:r>
          </a:p>
        </p:txBody>
      </p:sp>
      <p:graphicFrame>
        <p:nvGraphicFramePr>
          <p:cNvPr id="191" name="Shape 191"/>
          <p:cNvGraphicFramePr/>
          <p:nvPr/>
        </p:nvGraphicFramePr>
        <p:xfrm>
          <a:off x="39775" y="1147300"/>
          <a:ext cx="3352850" cy="3146850"/>
        </p:xfrm>
        <a:graphic>
          <a:graphicData uri="http://schemas.openxmlformats.org/drawingml/2006/table">
            <a:tbl>
              <a:tblPr>
                <a:noFill/>
                <a:tableStyleId>{589F65F7-8F5F-42B8-B6AC-A79D8E8C6B83}</a:tableStyleId>
              </a:tblPr>
              <a:tblGrid>
                <a:gridCol w="2622725"/>
                <a:gridCol w="730125"/>
              </a:tblGrid>
              <a:tr h="0">
                <a:tc gridSpan="2"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Inventario Sistema Operativo</a:t>
                      </a:r>
                    </a:p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 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Sistema Operativo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Total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Windows 10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156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Windows 7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83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Windows 8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59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Windows Xp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19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Total general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s-ES" dirty="0"/>
                        <a:t>317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92" name="Shape 1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7275" y="1147300"/>
            <a:ext cx="5436376" cy="323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/>
          <p:cNvSpPr txBox="1"/>
          <p:nvPr/>
        </p:nvSpPr>
        <p:spPr>
          <a:xfrm>
            <a:off x="0" y="4905286"/>
            <a:ext cx="2555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hlinkClick r:id="rId5" action="ppaction://hlinkfile"/>
              </a:rPr>
              <a:t>Inventario Completo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/>
          <p:nvPr/>
        </p:nvSpPr>
        <p:spPr>
          <a:xfrm>
            <a:off x="954675" y="144875"/>
            <a:ext cx="76521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sz="3000" b="1" dirty="0" smtClean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Requerimientos Funcionales </a:t>
            </a:r>
            <a:endParaRPr lang="es-ES" sz="3000" b="1" dirty="0">
              <a:solidFill>
                <a:srgbClr val="E8E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931" y="1010771"/>
            <a:ext cx="4494120" cy="263264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190" y="1010771"/>
            <a:ext cx="4686298" cy="2632642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0" y="4905286"/>
            <a:ext cx="2555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hlinkClick r:id="rId5" action="ppaction://hlinkfile"/>
              </a:rPr>
              <a:t>IEEE 830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2795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/>
          <p:nvPr/>
        </p:nvSpPr>
        <p:spPr>
          <a:xfrm>
            <a:off x="954675" y="144875"/>
            <a:ext cx="76521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sz="3000" b="1" dirty="0" smtClean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Requerimientos No Funcionales</a:t>
            </a:r>
            <a:endParaRPr lang="es-ES" sz="3000" b="1" dirty="0">
              <a:solidFill>
                <a:srgbClr val="E8E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42" y="1006761"/>
            <a:ext cx="5667375" cy="202882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629" y="3035586"/>
            <a:ext cx="5753100" cy="203826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0" y="4905286"/>
            <a:ext cx="2555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>
                <a:hlinkClick r:id="rId5" action="ppaction://hlinkfile"/>
              </a:rPr>
              <a:t>IEEE 830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0711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 txBox="1"/>
          <p:nvPr/>
        </p:nvSpPr>
        <p:spPr>
          <a:xfrm>
            <a:off x="1827575" y="1853125"/>
            <a:ext cx="7652100" cy="70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sz="7200" b="1" dirty="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</a:p>
          <a:p>
            <a:pPr marL="0" lvl="0" indent="-69850" rtl="0">
              <a:spcBef>
                <a:spcPts val="560"/>
              </a:spcBef>
              <a:buSzPts val="1100"/>
              <a:buNone/>
            </a:pPr>
            <a:r>
              <a:rPr lang="es-ES" b="1" dirty="0">
                <a:solidFill>
                  <a:srgbClr val="E8E6E8"/>
                </a:solidFill>
                <a:latin typeface="Calibri"/>
                <a:ea typeface="Calibri"/>
                <a:cs typeface="Calibri"/>
                <a:sym typeface="Calibri"/>
              </a:rPr>
              <a:t>Rol Coordinador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967</Words>
  <Application>Microsoft Office PowerPoint</Application>
  <PresentationFormat>Presentación en pantalla (16:9)</PresentationFormat>
  <Paragraphs>87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Calibri</vt:lpstr>
      <vt:lpstr>Noto Sans Symbols</vt:lpstr>
      <vt:lpstr>Arial</vt:lpstr>
      <vt:lpstr>Raleway</vt:lpstr>
      <vt:lpstr>Lato</vt:lpstr>
      <vt:lpstr>Swiss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...... ......</dc:creator>
  <cp:lastModifiedBy>SENA</cp:lastModifiedBy>
  <cp:revision>8</cp:revision>
  <dcterms:modified xsi:type="dcterms:W3CDTF">2017-12-12T01:05:13Z</dcterms:modified>
</cp:coreProperties>
</file>